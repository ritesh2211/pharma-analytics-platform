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Pharma Commercial Decision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Synthetic case study: how should Drug_A scale in India?</a:t>
            </a:r>
          </a:p>
          <a:p>
            <a:pPr>
              <a:spcAft>
                <a:spcPts val="1400"/>
              </a:spcAft>
              <a:defRPr sz="2000"/>
            </a:pPr>
            <a:r>
              <a:t>Decision chain: market opportunity → physician segments → demand forecast → pricing → scenario planning →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The commercial team needs a defensible launch and growth plan.</a:t>
            </a:r>
          </a:p>
          <a:p>
            <a:pPr>
              <a:spcAft>
                <a:spcPts val="1400"/>
              </a:spcAft>
              <a:defRPr sz="2000"/>
            </a:pPr>
            <a:r>
              <a:t>Questions: where to invest, whom to prioritize, how much demand to plan for, and how pricing changes revenue.</a:t>
            </a:r>
          </a:p>
          <a:p>
            <a:pPr>
              <a:spcAft>
                <a:spcPts val="1400"/>
              </a:spcAft>
              <a:defRPr sz="2000"/>
            </a:pPr>
            <a:r>
              <a:t>Success criterion: actionable recommendations with transparent assumptions—not a black-box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Market: treated patients and growth by region.</a:t>
            </a:r>
          </a:p>
          <a:p>
            <a:pPr>
              <a:spcAft>
                <a:spcPts val="1400"/>
              </a:spcAft>
              <a:defRPr sz="2000"/>
            </a:pPr>
            <a:r>
              <a:t>Physicians: specialty, patient volume, digital engagement, adoption propensity.</a:t>
            </a:r>
          </a:p>
          <a:p>
            <a:pPr>
              <a:spcAft>
                <a:spcPts val="1400"/>
              </a:spcAft>
              <a:defRPr sz="2000"/>
            </a:pPr>
            <a:r>
              <a:t>Sales: monthly units, price and revenue by region/product.</a:t>
            </a:r>
          </a:p>
          <a:p>
            <a:pPr>
              <a:spcAft>
                <a:spcPts val="1400"/>
              </a:spcAft>
              <a:defRPr sz="2000"/>
            </a:pPr>
            <a:r>
              <a:t>Products/competitors: price, efficacy/access proxies and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Composite score combines normalized treated-patient volume and growth.</a:t>
            </a:r>
          </a:p>
          <a:p>
            <a:pPr>
              <a:spcAft>
                <a:spcPts val="1400"/>
              </a:spcAft>
              <a:defRPr sz="2000"/>
            </a:pPr>
            <a:r>
              <a:t>Top synthetic regions: Karnataka, Maharashtra, Telangana.</a:t>
            </a:r>
          </a:p>
          <a:p>
            <a:pPr>
              <a:spcAft>
                <a:spcPts val="1400"/>
              </a:spcAft>
              <a:defRPr sz="2000"/>
            </a:pPr>
            <a:r>
              <a:t>Interpretation: size without growth can be less attractive than a smaller but faster-growing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Physician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K-Means on patient volume, digital engagement and adoption propensity.</a:t>
            </a:r>
          </a:p>
          <a:p>
            <a:pPr>
              <a:spcAft>
                <a:spcPts val="1400"/>
              </a:spcAft>
              <a:defRPr sz="2000"/>
            </a:pPr>
            <a:r>
              <a:t>Segments are profiled after clustering to keep labels business-interpretable.</a:t>
            </a:r>
          </a:p>
          <a:p>
            <a:pPr>
              <a:spcAft>
                <a:spcPts val="1400"/>
              </a:spcAft>
              <a:defRPr sz="2000"/>
            </a:pPr>
            <a:r>
              <a:t>Use case: allocate field capacity and tailor engagement by physician archetype.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Demand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Six-month Drug_A forecast uses lagged demand, rolling features and monthly seasonality.</a:t>
            </a:r>
          </a:p>
          <a:p>
            <a:pPr>
              <a:spcAft>
                <a:spcPts val="1400"/>
              </a:spcAft>
              <a:defRPr sz="2000"/>
            </a:pPr>
            <a:r>
              <a:t>Model choice: gradient-boosted regression for nonlinear relationships.</a:t>
            </a:r>
          </a:p>
          <a:p>
            <a:pPr>
              <a:spcAft>
                <a:spcPts val="1400"/>
              </a:spcAft>
              <a:defRPr sz="2000"/>
            </a:pPr>
            <a:r>
              <a:t>Production next step: rolling-origin backtesting against naive, seasonal-naive and classical time-series benchmarks.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Pricing &amp; 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Estimate directional price elasticity from observed synthetic data.</a:t>
            </a:r>
          </a:p>
          <a:p>
            <a:pPr>
              <a:spcAft>
                <a:spcPts val="1400"/>
              </a:spcAft>
              <a:defRPr sz="2000"/>
            </a:pPr>
            <a:r>
              <a:t>Evaluate multiple price points instead of a single “optimal” price.</a:t>
            </a:r>
          </a:p>
          <a:p>
            <a:pPr>
              <a:spcAft>
                <a:spcPts val="1400"/>
              </a:spcAft>
              <a:defRPr sz="2000"/>
            </a:pPr>
            <a:r>
              <a:t>Stress-test adoption ±15% and competitor response assumptions.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decision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1. Prioritize high-opportunity regions.</a:t>
            </a:r>
          </a:p>
          <a:p>
            <a:pPr>
              <a:spcAft>
                <a:spcPts val="1400"/>
              </a:spcAft>
              <a:defRPr sz="2000"/>
            </a:pPr>
            <a:r>
              <a:t>2. Focus on high-value and engaged physician segments.</a:t>
            </a:r>
          </a:p>
          <a:p>
            <a:pPr>
              <a:spcAft>
                <a:spcPts val="1400"/>
              </a:spcAft>
              <a:defRPr sz="2000"/>
            </a:pPr>
            <a:r>
              <a:t>3. Use forecast for supply/field planning.</a:t>
            </a:r>
          </a:p>
          <a:p>
            <a:pPr>
              <a:spcAft>
                <a:spcPts val="1400"/>
              </a:spcAft>
              <a:defRPr sz="2000"/>
            </a:pPr>
            <a:r>
              <a:t>4. Validate price with market-access and finance stakeholders.</a:t>
            </a:r>
          </a:p>
          <a:p>
            <a:pPr>
              <a:spcAft>
                <a:spcPts val="1400"/>
              </a:spcAft>
              <a:defRPr sz="2000"/>
            </a:pPr>
            <a:r>
              <a:t>5. Monitor forecast error and update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 would do with real client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Validate data lineage and definitions.</a:t>
            </a:r>
          </a:p>
          <a:p>
            <a:pPr>
              <a:spcAft>
                <a:spcPts val="1400"/>
              </a:spcAft>
              <a:defRPr sz="2000"/>
            </a:pPr>
            <a:r>
              <a:t>Add epidemiology, payer/access, competitor events and launch assumptions.</a:t>
            </a:r>
          </a:p>
          <a:p>
            <a:pPr>
              <a:spcAft>
                <a:spcPts val="1400"/>
              </a:spcAft>
              <a:defRPr sz="2000"/>
            </a:pPr>
            <a:r>
              <a:t>Use uncertainty intervals and rolling forecast validation.</a:t>
            </a:r>
          </a:p>
          <a:p>
            <a:pPr>
              <a:spcAft>
                <a:spcPts val="1400"/>
              </a:spcAft>
              <a:defRPr sz="2000"/>
            </a:pPr>
            <a:r>
              <a:t>Align model outputs with stakeholder decisions and measurable KPIs.</a:t>
            </a:r>
          </a:p>
          <a:p>
            <a:pPr>
              <a:spcAft>
                <a:spcPts val="1400"/>
              </a:spcAft>
              <a:defRPr sz="2000"/>
            </a:pPr>
            <a:r>
              <a:t>Keep the analytical trail auditable from source data to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